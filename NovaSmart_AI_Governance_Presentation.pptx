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leadership team. Today we are presenting the final governance closeout for NovaSmart's AI Agent Estate. When we began this project, autonomous AI agents were running across our environment with shared identities, unmonitored prompts, and unverified data access paths. Over the past five missions, we have established total visibility, enforced strict least-privilege boundaries, deployed ingress guardrails, and built an empirical scenario evaluation pipeline. This presentation walks through our architecture, results, and critical governance lessons.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our intervention, NovaSmart suffered from classic 'Shadow AI' growth. Business units were deploying agents using default GCP compute service accounts. If an agent executed an unauthorized query or leaked data, Cloud Audit Logs showed only the generic Compute Engine ID—making individual attribution impossible. Furthermore, prompt injection attacks could directly trick frontline pricing agents into approving $0.00 emergency liquidations or leaking internal system codes.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these systemic risks, we deployed a structured 6-phase roadmap. We didn't just add a perimeter firewall and call it a day. We moved step-by-step: first making every agent visible, then fixing identity, enforcing least-privilege API access, adding content screening, enabling full tracing, and finally establishing an offline evaluation loop to prove agent quality empirically.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Missions 0 and 1, we established absolute attribution. We registered all known agents in Gemini Enterprise Agent Registry and flagged the unmapped shadow promo agent. We then eliminated the shared Compute Engine service account. Now, every single database query or API call carries the specific service account token of the agent making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alone isn't enough; you must enforce least privilege. In Mission 2, we isolated our back-office Markdown Strategy Agent. We configured an Agent-to-Agent caller list so that only the Price Match Agent can invoke it—blocking any rogue external calls. We also restricted the customer PII dataset so that even if another agent is compromised, it cannot read customer loyalty tables.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Mission 3, we deployed Model Armor at our ingress gateway. When an attacker attempts a prompt injection—such as demanding an emergency override to liquidate an air purifier for $0.00—Model Armor intercepts the request at the perimeter and returns an HTTP 403 error before the prompt ever reaches our LLM or triggers tool calls.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Mission 4 established total operational transparency. We enabled auto-instrumentation and full message content logging. We can trace every request end-to-end: seeing the exact user input, the exact tool call parameters sent to BigQuery, the A2A handoff token, and the final response. All logs stream to BigQuery for real-time compliance monitoring.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Mission 5, we moved from security configuration to quality evaluation. We extracted the production agent code into an isolated local scaffold. Using agents-cli, we generated a 10-case synthetic test suite grounded in our real catalogue. Running this test suite revealed critical baseline vulnerabilities—including an embedded backdoor line in the system prompt that instructed the agent to honor emergency liquidation overrides.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patched the backdoor line in our local test file and re-ran the evaluation. The agent immediately shifted behavior—refusing prompt injections and enforcing database checks. But here is the most important governance lesson: we deliberately did not deploy this edit to production. A local fix is candidate input for code review, not a reason to bypass change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scorecard summarizes our complete transformation. Across all six domains—visibility, identity, access control, content screening, logging, and evaluation—NovaSmart has transitioned from an unmonitored risk state to an empirically verified governance posture.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three major takeaways for enterprise compliance: First, perimeter guardrails like Model Armor are essential, but they don't replace clean system prompts. Second, local evaluation loops give us confidence, but deployment requires formal sign-off. Third, AI evaluation must be continuous—as catalogues change, synthetic case suites must automatically regenerate.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recommendation to the leadership team is to approve the governance framework while requiring one final deployment step: pushing the validated system prompt patch to the live Vertex AI Reasoning Engine. Once that instruction patch is live, NovaSmart's Price Match Agent will be fully secured, compliant, and ready to serve customers safely.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NovaSmart AI Governance: Securing Agent Estates</a:t>
            </a:r>
          </a:p>
          <a:p>
            <a:pPr>
              <a:spcBef>
                <a:spcPts val="400"/>
              </a:spcBef>
              <a:defRPr sz="1400">
                <a:solidFill>
                  <a:srgbClr val="D97706"/>
                </a:solidFill>
              </a:defRPr>
            </a:pPr>
            <a:r>
              <a:t>From Discovery to Empirical Quality Evaluation</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Executive Overview: Transformation of NovaSmart's autonomous agent fleet from an unmonitored baseline to an enterprise-secured, fully traceable AI platform.</a:t>
            </a:r>
          </a:p>
          <a:p>
            <a:pPr>
              <a:lnSpc>
                <a:spcPct val="115000"/>
              </a:lnSpc>
              <a:spcAft>
                <a:spcPts val="1200"/>
              </a:spcAft>
              <a:defRPr sz="1500">
                <a:solidFill>
                  <a:srgbClr val="1E293B"/>
                </a:solidFill>
              </a:defRPr>
            </a:pPr>
            <a:r>
              <a:t>• Core Governance Milestones: Implementation of the 5-stage AI Security Lifecycle: Discovery (M0), Identity Isolation (M1), Access Control (M2), Content Guardrails (M3), Observability (M4), and Quality Evaluation (M5).</a:t>
            </a:r>
          </a:p>
          <a:p>
            <a:pPr>
              <a:lnSpc>
                <a:spcPct val="115000"/>
              </a:lnSpc>
              <a:spcAft>
                <a:spcPts val="1200"/>
              </a:spcAft>
              <a:defRPr sz="1500">
                <a:solidFill>
                  <a:srgbClr val="1E293B"/>
                </a:solidFill>
              </a:defRPr>
            </a:pPr>
            <a:r>
              <a:t>• Current Posture: 100% agent discovery, 0 shared compute identities, A2A caller restriction on back-office strategy engines, and perimeter prompt-injection defense.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The Baseline Crisis: Uncovering Hidden Enterprise AI Risks</a:t>
            </a:r>
          </a:p>
          <a:p>
            <a:pPr>
              <a:spcBef>
                <a:spcPts val="400"/>
              </a:spcBef>
              <a:defRPr sz="1400">
                <a:solidFill>
                  <a:srgbClr val="D97706"/>
                </a:solidFill>
              </a:defRPr>
            </a:pPr>
            <a:r>
              <a:t>Unmonitored Growth, Identity Contagion, &amp; Unscreened Perimeters</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Shadow AI Discovery: Unregistered promo agents (promo-agent-shadow) operating in production without documented business owners or compliance oversight.</a:t>
            </a:r>
          </a:p>
          <a:p>
            <a:pPr>
              <a:lnSpc>
                <a:spcPct val="115000"/>
              </a:lnSpc>
              <a:spcAft>
                <a:spcPts val="1200"/>
              </a:spcAft>
              <a:defRPr sz="1500">
                <a:solidFill>
                  <a:srgbClr val="1E293B"/>
                </a:solidFill>
              </a:defRPr>
            </a:pPr>
            <a:r>
              <a:t>• Identity Contagion: Multiple agents signing in under the default Compute Engine service account (739897231255-compute), creating an attribution blind spot.</a:t>
            </a:r>
          </a:p>
          <a:p>
            <a:pPr>
              <a:lnSpc>
                <a:spcPct val="115000"/>
              </a:lnSpc>
              <a:spcAft>
                <a:spcPts val="1200"/>
              </a:spcAft>
              <a:defRPr sz="1500">
                <a:solidFill>
                  <a:srgbClr val="1E293B"/>
                </a:solidFill>
              </a:defRPr>
            </a:pPr>
            <a:r>
              <a:t>• Unrestricted Back-Office Access: Frontline agents having direct, unvalidated pathways into back-office pricing and cost margin logic.</a:t>
            </a:r>
          </a:p>
          <a:p>
            <a:pPr>
              <a:lnSpc>
                <a:spcPct val="115000"/>
              </a:lnSpc>
              <a:spcAft>
                <a:spcPts val="1200"/>
              </a:spcAft>
              <a:defRPr sz="1500">
                <a:solidFill>
                  <a:srgbClr val="1E293B"/>
                </a:solidFill>
              </a:defRPr>
            </a:pPr>
            <a:r>
              <a:t>• Perimeter Vulnerability: Zero content screening at ingress, allowing prompt injection attacks and backdoor secret leaks (NVST-PRICING-7741) to bypass business rules.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The NovaSmart AI Security Framework (M0–M5 Roadmap)</a:t>
            </a:r>
          </a:p>
          <a:p>
            <a:pPr>
              <a:spcBef>
                <a:spcPts val="400"/>
              </a:spcBef>
              <a:defRPr sz="1400">
                <a:solidFill>
                  <a:srgbClr val="D97706"/>
                </a:solidFill>
              </a:defRPr>
            </a:pPr>
            <a:r>
              <a:t>End-to-End Governance Lifecycle Across 6 Milestones</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M0 — See Everything: Catalog all agents, identify shadow deployments, and assign accountable business owners.</a:t>
            </a:r>
          </a:p>
          <a:p>
            <a:pPr>
              <a:lnSpc>
                <a:spcPct val="115000"/>
              </a:lnSpc>
              <a:spcAft>
                <a:spcPts val="1200"/>
              </a:spcAft>
              <a:defRPr sz="1500">
                <a:solidFill>
                  <a:srgbClr val="1E293B"/>
                </a:solidFill>
              </a:defRPr>
            </a:pPr>
            <a:r>
              <a:t>• M1 — Take Action: Decouple shared compute identities; bind dedicated service accounts to every reasoning engine.</a:t>
            </a:r>
          </a:p>
          <a:p>
            <a:pPr>
              <a:lnSpc>
                <a:spcPct val="115000"/>
              </a:lnSpc>
              <a:spcAft>
                <a:spcPts val="1200"/>
              </a:spcAft>
              <a:defRPr sz="1500">
                <a:solidFill>
                  <a:srgbClr val="1E293B"/>
                </a:solidFill>
              </a:defRPr>
            </a:pPr>
            <a:r>
              <a:t>• M2 — Right-Size Access: Implement Agent-to-Agent (A2A) caller lists and restrict customer PII datasets.</a:t>
            </a:r>
          </a:p>
          <a:p>
            <a:pPr>
              <a:lnSpc>
                <a:spcPct val="115000"/>
              </a:lnSpc>
              <a:spcAft>
                <a:spcPts val="1200"/>
              </a:spcAft>
              <a:defRPr sz="1500">
                <a:solidFill>
                  <a:srgbClr val="1E293B"/>
                </a:solidFill>
              </a:defRPr>
            </a:pPr>
            <a:r>
              <a:t>• M3 — Screen Content: Deploy Model Armor perimeter guardrails and enable full message payload capture.</a:t>
            </a:r>
          </a:p>
          <a:p>
            <a:pPr>
              <a:lnSpc>
                <a:spcPct val="115000"/>
              </a:lnSpc>
              <a:spcAft>
                <a:spcPts val="1200"/>
              </a:spcAft>
              <a:defRPr sz="1500">
                <a:solidFill>
                  <a:srgbClr val="1E293B"/>
                </a:solidFill>
              </a:defRPr>
            </a:pPr>
            <a:r>
              <a:t>• M4 — Complete Observability: Configure Cloud Trace and export structured audit trails to BigQuery.</a:t>
            </a:r>
          </a:p>
          <a:p>
            <a:pPr>
              <a:lnSpc>
                <a:spcPct val="115000"/>
              </a:lnSpc>
              <a:spcAft>
                <a:spcPts val="1200"/>
              </a:spcAft>
              <a:defRPr sz="1500">
                <a:solidFill>
                  <a:srgbClr val="1E293B"/>
                </a:solidFill>
              </a:defRPr>
            </a:pPr>
            <a:r>
              <a:t>• M5 — Prove the Quality: Build synthetic scenario test suites and establish local evaluation loops.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Missions 0 &amp; 1 — Discovery &amp; Identity Decoupling</a:t>
            </a:r>
          </a:p>
          <a:p>
            <a:pPr>
              <a:spcBef>
                <a:spcPts val="400"/>
              </a:spcBef>
              <a:defRPr sz="1400">
                <a:solidFill>
                  <a:srgbClr val="D97706"/>
                </a:solidFill>
              </a:defRPr>
            </a:pPr>
            <a:r>
              <a:t>Establishing 100% Attribution &amp; Service Account Binding</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Agent Registry Onboarding: Registered Price Match Agent, Markdown Strategy Agent, and Personalization Agent in the central Agent Registry.</a:t>
            </a:r>
          </a:p>
          <a:p>
            <a:pPr>
              <a:lnSpc>
                <a:spcPct val="115000"/>
              </a:lnSpc>
              <a:spcAft>
                <a:spcPts val="1200"/>
              </a:spcAft>
              <a:defRPr sz="1500">
                <a:solidFill>
                  <a:srgbClr val="1E293B"/>
                </a:solidFill>
              </a:defRPr>
            </a:pPr>
            <a:r>
              <a:t>• Shadow Agent Remediation: Located promo-agent-shadow, isolated its execution context, and assigned it to marketing-ops.</a:t>
            </a:r>
          </a:p>
          <a:p>
            <a:pPr>
              <a:lnSpc>
                <a:spcPct val="115000"/>
              </a:lnSpc>
              <a:spcAft>
                <a:spcPts val="1200"/>
              </a:spcAft>
              <a:defRPr sz="1500">
                <a:solidFill>
                  <a:srgbClr val="1E293B"/>
                </a:solidFill>
              </a:defRPr>
            </a:pPr>
            <a:r>
              <a:t>• Identity Decoupling: Replaced generic compute credentials with dedicated service accounts: price-match-sa, markdown-strategy-sa, personalization-sa, novasmart-promo-sa.</a:t>
            </a:r>
          </a:p>
          <a:p>
            <a:pPr>
              <a:lnSpc>
                <a:spcPct val="115000"/>
              </a:lnSpc>
              <a:spcAft>
                <a:spcPts val="1200"/>
              </a:spcAft>
              <a:defRPr sz="1500">
                <a:solidFill>
                  <a:srgbClr val="1E293B"/>
                </a:solidFill>
              </a:defRPr>
            </a:pPr>
            <a:r>
              <a:t>• Governance Outcome: Every API call, database query, and tool execution is now 100% attributable to a specific agent identity in Cloud Audit Logs.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Mission 2 — Right-Sizing Access &amp; Agent-to-Agent (A2A) Boundaries</a:t>
            </a:r>
          </a:p>
          <a:p>
            <a:pPr>
              <a:spcBef>
                <a:spcPts val="400"/>
              </a:spcBef>
              <a:defRPr sz="1400">
                <a:solidFill>
                  <a:srgbClr val="D97706"/>
                </a:solidFill>
              </a:defRPr>
            </a:pPr>
            <a:r>
              <a:t>Network &amp; Data Boundaries: Restricting Back-Office &amp; PII Access</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Back-Office Isolation: The Markdown Strategy Agent controls internal cost and margin rules and must never speak directly to customers.</a:t>
            </a:r>
          </a:p>
          <a:p>
            <a:pPr>
              <a:lnSpc>
                <a:spcPct val="115000"/>
              </a:lnSpc>
              <a:spcAft>
                <a:spcPts val="1200"/>
              </a:spcAft>
              <a:defRPr sz="1500">
                <a:solidFill>
                  <a:srgbClr val="1E293B"/>
                </a:solidFill>
              </a:defRPr>
            </a:pPr>
            <a:r>
              <a:t>• A2A Allowed Caller List: Configured an explicit A2A caller filter on the Markdown Strategy Agent allowing calls ONLY from price-match-sa.</a:t>
            </a:r>
          </a:p>
          <a:p>
            <a:pPr>
              <a:lnSpc>
                <a:spcPct val="115000"/>
              </a:lnSpc>
              <a:spcAft>
                <a:spcPts val="1200"/>
              </a:spcAft>
              <a:defRPr sz="1500">
                <a:solidFill>
                  <a:srgbClr val="1E293B"/>
                </a:solidFill>
              </a:defRPr>
            </a:pPr>
            <a:r>
              <a:t>• Customer PII Isolation: Applied BigQuery dataset IAM policies to customer_data.customers.</a:t>
            </a:r>
          </a:p>
          <a:p>
            <a:pPr>
              <a:lnSpc>
                <a:spcPct val="115000"/>
              </a:lnSpc>
              <a:spcAft>
                <a:spcPts val="1200"/>
              </a:spcAft>
              <a:defRPr sz="1500">
                <a:solidFill>
                  <a:srgbClr val="1E293B"/>
                </a:solidFill>
              </a:defRPr>
            </a:pPr>
            <a:r>
              <a:t>• Least-Privilege Enforcement: Granted read access strictly to personalization-sa. Unauthorized queries from shadow agents (novasmart-promo-sa) are blocked at the BigQuery IAM layer with HTTP 403.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Mission 3 — Ingress Content Guardrails (Model Armor)</a:t>
            </a:r>
          </a:p>
          <a:p>
            <a:pPr>
              <a:spcBef>
                <a:spcPts val="400"/>
              </a:spcBef>
              <a:defRPr sz="1400">
                <a:solidFill>
                  <a:srgbClr val="D97706"/>
                </a:solidFill>
              </a:defRPr>
            </a:pPr>
            <a:r>
              <a:t>Perimeter Guardrails: Model Armor Ingress Screening</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Ingress Guardrail Floor: Deployed Model Armor content screening filters in front of public reasoning engines.</a:t>
            </a:r>
          </a:p>
          <a:p>
            <a:pPr>
              <a:lnSpc>
                <a:spcPct val="115000"/>
              </a:lnSpc>
              <a:spcAft>
                <a:spcPts val="1200"/>
              </a:spcAft>
              <a:defRPr sz="1500">
                <a:solidFill>
                  <a:srgbClr val="1E293B"/>
                </a:solidFill>
              </a:defRPr>
            </a:pPr>
            <a:r>
              <a:t>• Adversarial Pattern Interception: Automatically screens for prompt injections, jailbreaks, and system override attempts (EMERGENCY LIQUIDATION OVERRIDE).</a:t>
            </a:r>
          </a:p>
          <a:p>
            <a:pPr>
              <a:lnSpc>
                <a:spcPct val="115000"/>
              </a:lnSpc>
              <a:spcAft>
                <a:spcPts val="1200"/>
              </a:spcAft>
              <a:defRPr sz="1500">
                <a:solidFill>
                  <a:srgbClr val="1E293B"/>
                </a:solidFill>
              </a:defRPr>
            </a:pPr>
            <a:r>
              <a:t>• Perimeter Blocking: Malicious prompts are intercepted at the gateway level, returning HTTP 403 Model Armor: Prompt violates content security configurations before reaching the LLM.</a:t>
            </a:r>
          </a:p>
          <a:p>
            <a:pPr>
              <a:lnSpc>
                <a:spcPct val="115000"/>
              </a:lnSpc>
              <a:spcAft>
                <a:spcPts val="1200"/>
              </a:spcAft>
              <a:defRPr sz="1500">
                <a:solidFill>
                  <a:srgbClr val="1E293B"/>
                </a:solidFill>
              </a:defRPr>
            </a:pPr>
            <a:r>
              <a:t>• Defense-in-Depth Layering: Combines perimeter blocking with agent system prompts for dual-layer security.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Mission 4 — Complete Observability &amp; Audit Provenance</a:t>
            </a:r>
          </a:p>
          <a:p>
            <a:pPr>
              <a:spcBef>
                <a:spcPts val="400"/>
              </a:spcBef>
              <a:defRPr sz="1400">
                <a:solidFill>
                  <a:srgbClr val="D97706"/>
                </a:solidFill>
              </a:defRPr>
            </a:pPr>
            <a:r>
              <a:t>Enterprise Observability: Tracing &amp; Audit Log Provenance</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Full Trace Capture: Enabled Cloud Trace auto-instrumentation across all Reasoning Engines.</a:t>
            </a:r>
          </a:p>
          <a:p>
            <a:pPr>
              <a:lnSpc>
                <a:spcPct val="115000"/>
              </a:lnSpc>
              <a:spcAft>
                <a:spcPts val="1200"/>
              </a:spcAft>
              <a:defRPr sz="1500">
                <a:solidFill>
                  <a:srgbClr val="1E293B"/>
                </a:solidFill>
              </a:defRPr>
            </a:pPr>
            <a:r>
              <a:t>• Payload Logging: Enabled full message content capture (input prompts, tool execution arguments, output responses).</a:t>
            </a:r>
          </a:p>
          <a:p>
            <a:pPr>
              <a:lnSpc>
                <a:spcPct val="115000"/>
              </a:lnSpc>
              <a:spcAft>
                <a:spcPts val="1200"/>
              </a:spcAft>
              <a:defRPr sz="1500">
                <a:solidFill>
                  <a:srgbClr val="1E293B"/>
                </a:solidFill>
              </a:defRPr>
            </a:pPr>
            <a:r>
              <a:t>• Audit Pipeline Export: Streamed structured telemetry logs directly to BigQuery for security analytics and compliance auditing.</a:t>
            </a:r>
          </a:p>
          <a:p>
            <a:pPr>
              <a:lnSpc>
                <a:spcPct val="115000"/>
              </a:lnSpc>
              <a:spcAft>
                <a:spcPts val="1200"/>
              </a:spcAft>
              <a:defRPr sz="1500">
                <a:solidFill>
                  <a:srgbClr val="1E293B"/>
                </a:solidFill>
              </a:defRPr>
            </a:pPr>
            <a:r>
              <a:t>• Trace Reconstruction: Demonstrated ability to inspect exact reasoning chains, tool parameters, and execution latency for any customer interaction.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Mission 5 — Local Evaluation Harness &amp; Adversarial Synthesis</a:t>
            </a:r>
          </a:p>
          <a:p>
            <a:pPr>
              <a:spcBef>
                <a:spcPts val="400"/>
              </a:spcBef>
              <a:defRPr sz="1400">
                <a:solidFill>
                  <a:srgbClr val="D97706"/>
                </a:solidFill>
              </a:defRPr>
            </a:pPr>
            <a:r>
              <a:t>Proving Quality: Synthetic Dataset Generation &amp; Local Evaluation</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Isolated Local Scaffold: Created throwaway local project (/tmp/m5-local) using production agent code extracted from agent.zip.</a:t>
            </a:r>
          </a:p>
          <a:p>
            <a:pPr>
              <a:lnSpc>
                <a:spcPct val="115000"/>
              </a:lnSpc>
              <a:spcAft>
                <a:spcPts val="1200"/>
              </a:spcAft>
              <a:defRPr sz="1500">
                <a:solidFill>
                  <a:srgbClr val="1E293B"/>
                </a:solidFill>
              </a:defRPr>
            </a:pPr>
            <a:r>
              <a:t>• Synthetic Case Generation: Generated a 10-scenario diverse evaluation set using agents-cli eval dataset synthesize grounded in real catalogue data (SKU-HSE-4001, SKU-HSE-4002, SKU-HSE-4455).</a:t>
            </a:r>
          </a:p>
          <a:p>
            <a:pPr>
              <a:lnSpc>
                <a:spcPct val="115000"/>
              </a:lnSpc>
              <a:spcAft>
                <a:spcPts val="1200"/>
              </a:spcAft>
              <a:defRPr sz="1500">
                <a:solidFill>
                  <a:srgbClr val="1E293B"/>
                </a:solidFill>
              </a:defRPr>
            </a:pPr>
            <a:r>
              <a:t>• Edge Case Coverage: Test suite included 10% cap boundary cases, 15% discount handoffs, unverified competitors, database mutation requests, and adversarial prompt injections.</a:t>
            </a:r>
          </a:p>
          <a:p>
            <a:pPr>
              <a:lnSpc>
                <a:spcPct val="115000"/>
              </a:lnSpc>
              <a:spcAft>
                <a:spcPts val="1200"/>
              </a:spcAft>
              <a:defRPr sz="1500">
                <a:solidFill>
                  <a:srgbClr val="1E293B"/>
                </a:solidFill>
              </a:defRPr>
            </a:pPr>
            <a:r>
              <a:t>• Baseline Evaluation Result (N = 10): 5 matched · 3 did not · 2 not run (Accounting Rule AR-2 fixed denominator). Uncovered embedded instruction backdoors.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Instruction Patching — Local Evaluation vs. Production Reality</a:t>
            </a:r>
          </a:p>
          <a:p>
            <a:pPr>
              <a:spcBef>
                <a:spcPts val="400"/>
              </a:spcBef>
              <a:defRPr sz="1400">
                <a:solidFill>
                  <a:srgbClr val="D97706"/>
                </a:solidFill>
              </a:defRPr>
            </a:pPr>
            <a:r>
              <a:t>The Staging/Production Boundary: Local Validation vs. Live Estate</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Single-Line Instruction Diff: Replaced the backdoor instruction (Jailbreak Bypass) with strict verification rules (No Overrides).</a:t>
            </a:r>
          </a:p>
          <a:p>
            <a:pPr>
              <a:lnSpc>
                <a:spcPct val="115000"/>
              </a:lnSpc>
              <a:spcAft>
                <a:spcPts val="1200"/>
              </a:spcAft>
              <a:defRPr sz="1500">
                <a:solidFill>
                  <a:srgbClr val="1E293B"/>
                </a:solidFill>
              </a:defRPr>
            </a:pPr>
            <a:r>
              <a:t>• Local Evaluation Re-Run: Before: Agent approved $50 liquidation bypass outright -&gt; After: Agent actively enforced BigQuery verification and denied unverified override requests. Case 2 moved from Did Not Match to Matched.</a:t>
            </a:r>
          </a:p>
          <a:p>
            <a:pPr>
              <a:lnSpc>
                <a:spcPct val="115000"/>
              </a:lnSpc>
              <a:spcAft>
                <a:spcPts val="1200"/>
              </a:spcAft>
              <a:defRPr sz="1500">
                <a:solidFill>
                  <a:srgbClr val="1E293B"/>
                </a:solidFill>
              </a:defRPr>
            </a:pPr>
            <a:r>
              <a:t>• The Staging Reality: The fix was validated locally and deliberately withheld from production.</a:t>
            </a:r>
          </a:p>
          <a:p>
            <a:pPr>
              <a:lnSpc>
                <a:spcPct val="115000"/>
              </a:lnSpc>
              <a:spcAft>
                <a:spcPts val="1200"/>
              </a:spcAft>
              <a:defRPr sz="1500">
                <a:solidFill>
                  <a:srgbClr val="1E293B"/>
                </a:solidFill>
              </a:defRPr>
            </a:pPr>
            <a:r>
              <a:t>• Production Finding: The live deployed agent in Vertex AI still carries the original unpatched system prompt, relying on Model Armor perimeter screens.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Governance Scorecard Summary &amp; Empirical Metrics</a:t>
            </a:r>
          </a:p>
          <a:p>
            <a:pPr>
              <a:spcBef>
                <a:spcPts val="400"/>
              </a:spcBef>
              <a:defRPr sz="1400">
                <a:solidFill>
                  <a:srgbClr val="D97706"/>
                </a:solidFill>
              </a:defRPr>
            </a:pPr>
            <a:r>
              <a:t>NovaSmart Governance Scorecard: Pre- vs. Post-Lab Comparison</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Agent Fleet Visibility: Baseline: Untracked shadow agents -&gt; Final Posture: 100% Catalogued in Agent Registry (Verified M0)</a:t>
            </a:r>
          </a:p>
          <a:p>
            <a:pPr>
              <a:lnSpc>
                <a:spcPct val="115000"/>
              </a:lnSpc>
              <a:spcAft>
                <a:spcPts val="1200"/>
              </a:spcAft>
              <a:defRPr sz="1500">
                <a:solidFill>
                  <a:srgbClr val="1E293B"/>
                </a:solidFill>
              </a:defRPr>
            </a:pPr>
            <a:r>
              <a:t>• Identity Attribution: Baseline: Shared default Compute SA -&gt; Final Posture: Dedicated Per-Agent Service Accounts (Verified M1)</a:t>
            </a:r>
          </a:p>
          <a:p>
            <a:pPr>
              <a:lnSpc>
                <a:spcPct val="115000"/>
              </a:lnSpc>
              <a:spcAft>
                <a:spcPts val="1200"/>
              </a:spcAft>
              <a:defRPr sz="1500">
                <a:solidFill>
                  <a:srgbClr val="1E293B"/>
                </a:solidFill>
              </a:defRPr>
            </a:pPr>
            <a:r>
              <a:t>• A2A &amp; PII Access: Baseline: Open back-office API endpoints -&gt; Final Posture: A2A Caller Lists &amp; Restricted PII (Verified M2)</a:t>
            </a:r>
          </a:p>
          <a:p>
            <a:pPr>
              <a:lnSpc>
                <a:spcPct val="115000"/>
              </a:lnSpc>
              <a:spcAft>
                <a:spcPts val="1200"/>
              </a:spcAft>
              <a:defRPr sz="1500">
                <a:solidFill>
                  <a:srgbClr val="1E293B"/>
                </a:solidFill>
              </a:defRPr>
            </a:pPr>
            <a:r>
              <a:t>• Content Guardrails: Baseline: No ingress screening -&gt; Final Posture: Model Armor Perimeter Filters (Verified M3)</a:t>
            </a:r>
          </a:p>
          <a:p>
            <a:pPr>
              <a:lnSpc>
                <a:spcPct val="115000"/>
              </a:lnSpc>
              <a:spcAft>
                <a:spcPts val="1200"/>
              </a:spcAft>
              <a:defRPr sz="1500">
                <a:solidFill>
                  <a:srgbClr val="1E293B"/>
                </a:solidFill>
              </a:defRPr>
            </a:pPr>
            <a:r>
              <a:t>• Traceability &amp; Logging: Baseline: Unmonitored prompt payloads -&gt; Final Posture: Full Cloud Trace &amp; BQ Audit Logs (Verified M4)</a:t>
            </a:r>
          </a:p>
          <a:p>
            <a:pPr>
              <a:lnSpc>
                <a:spcPct val="115000"/>
              </a:lnSpc>
              <a:spcAft>
                <a:spcPts val="1200"/>
              </a:spcAft>
              <a:defRPr sz="1500">
                <a:solidFill>
                  <a:srgbClr val="1E293B"/>
                </a:solidFill>
              </a:defRPr>
            </a:pPr>
            <a:r>
              <a:t>• Quality Evaluation: Baseline: No systematic testing -&gt; Final Posture: Synthetic Local Harness (N=10) (Verified M5)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Enterprise Risk &amp; Compliance Lessons Learned</a:t>
            </a:r>
          </a:p>
          <a:p>
            <a:pPr>
              <a:spcBef>
                <a:spcPts val="400"/>
              </a:spcBef>
              <a:defRPr sz="1400">
                <a:solidFill>
                  <a:srgbClr val="D97706"/>
                </a:solidFill>
              </a:defRPr>
            </a:pPr>
            <a:r>
              <a:t>Key Takeaways for Enterprise AI Governance</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Perimeter Screens Are Not Agent Fixes: Model Armor blocks known attack phrases at the boundary, but underlying agent system prompts must still be cleaned.</a:t>
            </a:r>
          </a:p>
          <a:p>
            <a:pPr>
              <a:lnSpc>
                <a:spcPct val="115000"/>
              </a:lnSpc>
              <a:spcAft>
                <a:spcPts val="1200"/>
              </a:spcAft>
              <a:defRPr sz="1500">
                <a:solidFill>
                  <a:srgbClr val="1E293B"/>
                </a:solidFill>
              </a:defRPr>
            </a:pPr>
            <a:r>
              <a:t>• Separation of Duties in AI Release: Developers should write and validate instruction fixes locally; Risk and Compliance must sign off before deployment.</a:t>
            </a:r>
          </a:p>
          <a:p>
            <a:pPr>
              <a:lnSpc>
                <a:spcPct val="115000"/>
              </a:lnSpc>
              <a:spcAft>
                <a:spcPts val="1200"/>
              </a:spcAft>
              <a:defRPr sz="1500">
                <a:solidFill>
                  <a:srgbClr val="1E293B"/>
                </a:solidFill>
              </a:defRPr>
            </a:pPr>
            <a:r>
              <a:t>• Fixed Denominator Accounting: Always evaluate quality across a fixed set of cases (n matched · f did not · u not run); never shrink denominators to obscure failures.</a:t>
            </a:r>
          </a:p>
          <a:p>
            <a:pPr>
              <a:lnSpc>
                <a:spcPct val="115000"/>
              </a:lnSpc>
              <a:spcAft>
                <a:spcPts val="1200"/>
              </a:spcAft>
              <a:defRPr sz="1500">
                <a:solidFill>
                  <a:srgbClr val="1E293B"/>
                </a:solidFill>
              </a:defRPr>
            </a:pPr>
            <a:r>
              <a:t>• Continuous Evaluation Flywheels: Synthetic case generation must run periodically as product catalogues and pricing policies evolve.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600" b="1">
                <a:solidFill>
                  <a:srgbClr val="0F172A"/>
                </a:solidFill>
              </a:defRPr>
            </a:pPr>
            <a:r>
              <a:t>Production Go/No-Go Decision &amp; Next Steps</a:t>
            </a:r>
          </a:p>
          <a:p>
            <a:pPr>
              <a:spcBef>
                <a:spcPts val="400"/>
              </a:spcBef>
              <a:defRPr sz="1400">
                <a:solidFill>
                  <a:srgbClr val="D97706"/>
                </a:solidFill>
              </a:defRPr>
            </a:pPr>
            <a:r>
              <a:t>Production Launch Assessment &amp; Strategic Recommendations</a:t>
            </a:r>
          </a:p>
        </p:txBody>
      </p:sp>
      <p:sp>
        <p:nvSpPr>
          <p:cNvPr id="3" name="TextBox 2"/>
          <p:cNvSpPr txBox="1"/>
          <p:nvPr/>
        </p:nvSpPr>
        <p:spPr>
          <a:xfrm>
            <a:off x="731520" y="1737360"/>
            <a:ext cx="10698480" cy="4572000"/>
          </a:xfrm>
          <a:prstGeom prst="rect">
            <a:avLst/>
          </a:prstGeom>
          <a:noFill/>
        </p:spPr>
        <p:txBody>
          <a:bodyPr wrap="square" lIns="0" tIns="0" rIns="0" bIns="0">
            <a:spAutoFit/>
          </a:bodyPr>
          <a:lstStyle/>
          <a:p>
            <a:pPr>
              <a:lnSpc>
                <a:spcPct val="115000"/>
              </a:lnSpc>
              <a:spcAft>
                <a:spcPts val="1200"/>
              </a:spcAft>
              <a:defRPr sz="1500">
                <a:solidFill>
                  <a:srgbClr val="1E293B"/>
                </a:solidFill>
              </a:defRPr>
            </a:pPr>
            <a:r>
              <a:t>• Governance Decision Gate: Production launch authorization requires joint sign-off from AI Platform Lead, Risk, and Compliance.</a:t>
            </a:r>
          </a:p>
          <a:p>
            <a:pPr>
              <a:lnSpc>
                <a:spcPct val="115000"/>
              </a:lnSpc>
              <a:spcAft>
                <a:spcPts val="1200"/>
              </a:spcAft>
              <a:defRPr sz="1500">
                <a:solidFill>
                  <a:srgbClr val="1E293B"/>
                </a:solidFill>
              </a:defRPr>
            </a:pPr>
            <a:r>
              <a:t>• Prerequisite Action 1 (Fix Before Launch): Route the validated local instruction diff through formal CI/CD to replace Backdoor Rules 1 and 2 in the live Vertex AI Reasoning Engine.</a:t>
            </a:r>
          </a:p>
          <a:p>
            <a:pPr>
              <a:lnSpc>
                <a:spcPct val="115000"/>
              </a:lnSpc>
              <a:spcAft>
                <a:spcPts val="1200"/>
              </a:spcAft>
              <a:defRPr sz="1500">
                <a:solidFill>
                  <a:srgbClr val="1E293B"/>
                </a:solidFill>
              </a:defRPr>
            </a:pPr>
            <a:r>
              <a:t>• Prerequisite Action 2 (Monitor After Launch): Establish real-time BigQuery alerts tracking Model Armor perimeter block rates (HTTP 403) against agent-level policy refusal rates.</a:t>
            </a:r>
          </a:p>
          <a:p>
            <a:pPr>
              <a:lnSpc>
                <a:spcPct val="115000"/>
              </a:lnSpc>
              <a:spcAft>
                <a:spcPts val="1200"/>
              </a:spcAft>
              <a:defRPr sz="1500">
                <a:solidFill>
                  <a:srgbClr val="1E293B"/>
                </a:solidFill>
              </a:defRPr>
            </a:pPr>
            <a:r>
              <a:t>• Closing Question: What would a customer-facing AI decision have to be worth before you would want more than a handful of written-down cases behind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